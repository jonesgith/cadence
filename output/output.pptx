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ackground">
            <a:extLst>
              <a:ext uri="{FF2B5EF4-FFF2-40B4-BE49-F238E27FC236}">
                <a16:creationId xmlns:a16="http://schemas.microsoft.com/office/drawing/2014/main" id="{3BD45257-4121-44F5-BBD5-2BF7AA648AAA}"/>
              </a:ext>
            </a:extLst>
          </p:cNvPr>
          <p:cNvSpPr>
            <a:spLocks noGrp="1"/>
          </p:cNvSpPr>
          <p:nvPr/>
        </p:nvSpPr>
        <p:spPr>
          <a:xfrm>
            <a:off x="-153352" y="71594"/>
            <a:ext cx="18288000" cy="10287000"/>
          </a:xfrm>
          <a:prstGeom prst="rect">
            <a:avLst/>
          </a:prstGeom>
          <a:solidFill>
            <a:srgbClr val="0F172A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DD9482CC-0217-43A7-837D-85D15750D041}"/>
              </a:ext>
            </a:extLst>
          </p:cNvPr>
          <p:cNvSpPr>
            <a:spLocks noGrp="1"/>
          </p:cNvSpPr>
          <p:nvPr/>
        </p:nvSpPr>
        <p:spPr>
          <a:xfrm>
            <a:off x="876300" y="2686050"/>
            <a:ext cx="20002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DBA74"/>
                </a:solidFill>
              </a:defRPr>
            </a:pPr>
            <a:r>
              <a:rPr sz="1350" b="1">
                <a:solidFill>
                  <a:srgbClr val="FDBA74"/>
                </a:solidFill>
              </a:rPr>
              <a:t>CADENCE MARKETING DECK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CEB89EB3-4819-479E-880C-FE7014A09F58}"/>
              </a:ext>
            </a:extLst>
          </p:cNvPr>
          <p:cNvSpPr>
            <a:spLocks noGrp="1"/>
          </p:cNvSpPr>
          <p:nvPr/>
        </p:nvSpPr>
        <p:spPr>
          <a:xfrm>
            <a:off x="876300" y="3333750"/>
            <a:ext cx="7620000" cy="2114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6900" b="1">
                <a:solidFill>
                  <a:srgbClr val="FFFFFF"/>
                </a:solidFill>
              </a:defRPr>
            </a:pPr>
            <a:r>
              <a:rPr sz="6900" b="1">
                <a:solidFill>
                  <a:srgbClr val="FFFFFF"/>
                </a:solidFill>
              </a:rPr>
              <a:t>Your consulting rhythm.</a:t>
            </a: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80FB9A55-A759-403A-86D3-4025FA03943E}"/>
              </a:ext>
            </a:extLst>
          </p:cNvPr>
          <p:cNvSpPr>
            <a:spLocks noGrp="1"/>
          </p:cNvSpPr>
          <p:nvPr/>
        </p:nvSpPr>
        <p:spPr>
          <a:xfrm>
            <a:off x="876300" y="5657850"/>
            <a:ext cx="6191250" cy="971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C9D6EA"/>
                </a:solidFill>
              </a:defRPr>
            </a:pPr>
            <a:r>
              <a:rPr sz="2100">
                <a:solidFill>
                  <a:srgbClr val="C9D6EA"/>
                </a:solidFill>
              </a:rPr>
              <a:t>A local Windows app that turns Microsoft 365 calendar sessions into polished invoices for educational therapists, tutors, and solo practitioners.</a:t>
            </a:r>
          </a:p>
        </p:txBody>
      </p:sp>
      <p:sp>
        <p:nvSpPr>
          <p:cNvPr id="5" name="pill-calendar">
            <a:extLst>
              <a:ext uri="{FF2B5EF4-FFF2-40B4-BE49-F238E27FC236}">
                <a16:creationId xmlns:a16="http://schemas.microsoft.com/office/drawing/2014/main" id="{0A2AF8E2-171A-4329-A16E-CA21D9AF2A53}"/>
              </a:ext>
            </a:extLst>
          </p:cNvPr>
          <p:cNvSpPr>
            <a:spLocks noGrp="1"/>
          </p:cNvSpPr>
          <p:nvPr/>
        </p:nvSpPr>
        <p:spPr>
          <a:xfrm>
            <a:off x="876300" y="6922770"/>
            <a:ext cx="1014317" cy="601980"/>
          </a:xfrm>
          <a:prstGeom prst="roundRect">
            <a:avLst>
              <a:gd name="adj" fmla="val 50000"/>
            </a:avLst>
          </a:prstGeom>
          <a:solidFill>
            <a:srgbClr val="1E3A8A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39538F-FCF7-4093-A846-31E09C3FABD8}"/>
              </a:ext>
            </a:extLst>
          </p:cNvPr>
          <p:cNvSpPr>
            <a:spLocks noGrp="1"/>
          </p:cNvSpPr>
          <p:nvPr/>
        </p:nvSpPr>
        <p:spPr>
          <a:xfrm>
            <a:off x="1066799" y="7010400"/>
            <a:ext cx="757999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BFDBFE"/>
                </a:solidFill>
              </a:defRPr>
            </a:pPr>
            <a:r>
              <a:rPr sz="1350" b="1" dirty="0">
                <a:solidFill>
                  <a:srgbClr val="BFDBFE"/>
                </a:solidFill>
              </a:rPr>
              <a:t>Calendar</a:t>
            </a:r>
          </a:p>
        </p:txBody>
      </p:sp>
      <p:sp>
        <p:nvSpPr>
          <p:cNvPr id="7" name="pill-invoices">
            <a:extLst>
              <a:ext uri="{FF2B5EF4-FFF2-40B4-BE49-F238E27FC236}">
                <a16:creationId xmlns:a16="http://schemas.microsoft.com/office/drawing/2014/main" id="{749EDA0B-644A-4368-90F3-9969C080FB95}"/>
              </a:ext>
            </a:extLst>
          </p:cNvPr>
          <p:cNvSpPr>
            <a:spLocks noGrp="1"/>
          </p:cNvSpPr>
          <p:nvPr/>
        </p:nvSpPr>
        <p:spPr>
          <a:xfrm>
            <a:off x="2023967" y="6922770"/>
            <a:ext cx="956501" cy="396240"/>
          </a:xfrm>
          <a:prstGeom prst="roundRect">
            <a:avLst>
              <a:gd name="adj" fmla="val 50000"/>
            </a:avLst>
          </a:prstGeom>
          <a:solidFill>
            <a:srgbClr val="4C1D95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1BFB3B-D9E7-4548-A550-D45D77F54947}"/>
              </a:ext>
            </a:extLst>
          </p:cNvPr>
          <p:cNvSpPr>
            <a:spLocks noGrp="1"/>
          </p:cNvSpPr>
          <p:nvPr/>
        </p:nvSpPr>
        <p:spPr>
          <a:xfrm>
            <a:off x="2209800" y="7010400"/>
            <a:ext cx="6667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DDD6FE"/>
                </a:solidFill>
              </a:defRPr>
            </a:pPr>
            <a:r>
              <a:rPr sz="1350" b="1" dirty="0">
                <a:solidFill>
                  <a:srgbClr val="DDD6FE"/>
                </a:solidFill>
              </a:rPr>
              <a:t>Invoices</a:t>
            </a:r>
          </a:p>
        </p:txBody>
      </p:sp>
      <p:sp>
        <p:nvSpPr>
          <p:cNvPr id="9" name="pill-local-data">
            <a:extLst>
              <a:ext uri="{FF2B5EF4-FFF2-40B4-BE49-F238E27FC236}">
                <a16:creationId xmlns:a16="http://schemas.microsoft.com/office/drawing/2014/main" id="{2883D327-D278-4B71-83DC-202A3833D0BF}"/>
              </a:ext>
            </a:extLst>
          </p:cNvPr>
          <p:cNvSpPr>
            <a:spLocks noGrp="1"/>
          </p:cNvSpPr>
          <p:nvPr/>
        </p:nvSpPr>
        <p:spPr>
          <a:xfrm>
            <a:off x="3113818" y="6922770"/>
            <a:ext cx="1099376" cy="396240"/>
          </a:xfrm>
          <a:prstGeom prst="roundRect">
            <a:avLst>
              <a:gd name="adj" fmla="val 50000"/>
            </a:avLst>
          </a:prstGeom>
          <a:solidFill>
            <a:srgbClr val="7C2D12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AFE9E6-416F-45B1-A79E-942BC96FC0D1}"/>
              </a:ext>
            </a:extLst>
          </p:cNvPr>
          <p:cNvSpPr>
            <a:spLocks noGrp="1"/>
          </p:cNvSpPr>
          <p:nvPr/>
        </p:nvSpPr>
        <p:spPr>
          <a:xfrm>
            <a:off x="3295650" y="7010400"/>
            <a:ext cx="723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ED7AA"/>
                </a:solidFill>
              </a:defRPr>
            </a:pPr>
            <a:r>
              <a:rPr sz="1350" b="1">
                <a:solidFill>
                  <a:srgbClr val="FED7AA"/>
                </a:solidFill>
              </a:rPr>
              <a:t>Local data</a:t>
            </a:r>
          </a:p>
        </p:txBody>
      </p:sp>
      <p:sp>
        <p:nvSpPr>
          <p:cNvPr id="11" name="cover-product-screenshot">
            <a:extLst>
              <a:ext uri="{FF2B5EF4-FFF2-40B4-BE49-F238E27FC236}">
                <a16:creationId xmlns:a16="http://schemas.microsoft.com/office/drawing/2014/main" id="{B7E61752-575E-48B8-B3AF-D8B83468573B}"/>
              </a:ext>
            </a:extLst>
          </p:cNvPr>
          <p:cNvSpPr>
            <a:spLocks noGrp="1"/>
          </p:cNvSpPr>
          <p:nvPr/>
        </p:nvSpPr>
        <p:spPr>
          <a:xfrm>
            <a:off x="8990648" y="1714500"/>
            <a:ext cx="8421053" cy="6858000"/>
          </a:xfrm>
          <a:prstGeom prst="roundRect">
            <a:avLst>
              <a:gd name="adj" fmla="val 3889"/>
            </a:avLst>
          </a:prstGeom>
          <a:solidFill>
            <a:srgbClr val="172033"/>
          </a:solidFill>
        </p:spPr>
        <p:txBody>
          <a:bodyPr/>
          <a:lstStyle/>
          <a:p>
            <a:endParaRPr lang="en-US"/>
          </a:p>
        </p:txBody>
      </p:sp>
      <p:pic>
        <p:nvPicPr>
          <p:cNvPr id="12" name="cadence-dashboard-screenshot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62098" y="2619077"/>
            <a:ext cx="8078153" cy="5048845"/>
          </a:xfrm>
          <a:prstGeom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429206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ackground">
            <a:extLst>
              <a:ext uri="{FF2B5EF4-FFF2-40B4-BE49-F238E27FC236}">
                <a16:creationId xmlns:a16="http://schemas.microsoft.com/office/drawing/2014/main" id="{F2F26095-2D47-4C30-AAFC-24DDE8D5EE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BA21C4DF-0D60-4886-BBFA-7A3D2AA99412}"/>
              </a:ext>
            </a:extLst>
          </p:cNvPr>
          <p:cNvSpPr>
            <a:spLocks noGrp="1"/>
          </p:cNvSpPr>
          <p:nvPr/>
        </p:nvSpPr>
        <p:spPr>
          <a:xfrm>
            <a:off x="876300" y="723900"/>
            <a:ext cx="1295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THE ADMIN DRAG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F1F017F7-13A3-422E-A474-E31DBA2CD149}"/>
              </a:ext>
            </a:extLst>
          </p:cNvPr>
          <p:cNvSpPr>
            <a:spLocks noGrp="1"/>
          </p:cNvSpPr>
          <p:nvPr/>
        </p:nvSpPr>
        <p:spPr>
          <a:xfrm>
            <a:off x="876300" y="1104900"/>
            <a:ext cx="10153650" cy="1524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950" b="1">
                <a:solidFill>
                  <a:srgbClr val="121826"/>
                </a:solidFill>
              </a:defRPr>
            </a:pPr>
            <a:r>
              <a:rPr sz="4950" b="1">
                <a:solidFill>
                  <a:srgbClr val="121826"/>
                </a:solidFill>
              </a:rPr>
              <a:t>Solo practices should not need a billing department.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id="{1E690211-83D2-4E78-8D50-DBA65F1BE35C}"/>
              </a:ext>
            </a:extLst>
          </p:cNvPr>
          <p:cNvSpPr>
            <a:spLocks noGrp="1"/>
          </p:cNvSpPr>
          <p:nvPr/>
        </p:nvSpPr>
        <p:spPr>
          <a:xfrm>
            <a:off x="876300" y="2781300"/>
            <a:ext cx="9296400" cy="647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48566A"/>
                </a:solidFill>
              </a:defRPr>
            </a:pPr>
            <a:r>
              <a:rPr sz="2100">
                <a:solidFill>
                  <a:srgbClr val="48566A"/>
                </a:solidFill>
              </a:rPr>
              <a:t>Cadence is positioned around a simple promise: keep the practitioner in session mode while invoices, payments, and reporting stay organized.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B018A6-9ACE-41F9-9C2D-09137CD97A32}"/>
              </a:ext>
            </a:extLst>
          </p:cNvPr>
          <p:cNvSpPr>
            <a:spLocks noGrp="1"/>
          </p:cNvSpPr>
          <p:nvPr/>
        </p:nvSpPr>
        <p:spPr>
          <a:xfrm>
            <a:off x="876300" y="5334000"/>
            <a:ext cx="6477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rPr sz="36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6A3D58-05A6-4260-9659-26EAFB2B7163}"/>
              </a:ext>
            </a:extLst>
          </p:cNvPr>
          <p:cNvSpPr>
            <a:spLocks noGrp="1"/>
          </p:cNvSpPr>
          <p:nvPr/>
        </p:nvSpPr>
        <p:spPr>
          <a:xfrm>
            <a:off x="1714500" y="5334000"/>
            <a:ext cx="75057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21826"/>
                </a:solidFill>
              </a:defRPr>
            </a:pPr>
            <a:r>
              <a:rPr sz="2250" b="1">
                <a:solidFill>
                  <a:srgbClr val="121826"/>
                </a:solidFill>
              </a:rPr>
              <a:t>Calendar sessions already know the work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BA22D4-AB61-4CE9-A064-BE991D9F6684}"/>
              </a:ext>
            </a:extLst>
          </p:cNvPr>
          <p:cNvSpPr>
            <a:spLocks noGrp="1"/>
          </p:cNvSpPr>
          <p:nvPr/>
        </p:nvSpPr>
        <p:spPr>
          <a:xfrm>
            <a:off x="1714500" y="5753100"/>
            <a:ext cx="7505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48566A"/>
                </a:solidFill>
              </a:defRPr>
            </a:pPr>
            <a:r>
              <a:rPr sz="1650">
                <a:solidFill>
                  <a:srgbClr val="48566A"/>
                </a:solidFill>
              </a:rPr>
              <a:t>No duplicate entry when appointments can become invoice line items.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34C91F-A292-430A-914F-D483D375A1F9}"/>
              </a:ext>
            </a:extLst>
          </p:cNvPr>
          <p:cNvSpPr>
            <a:spLocks noGrp="1"/>
          </p:cNvSpPr>
          <p:nvPr/>
        </p:nvSpPr>
        <p:spPr>
          <a:xfrm>
            <a:off x="876300" y="6248400"/>
            <a:ext cx="6477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rPr sz="360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ED9E1D-12BE-4F2E-959E-C295DE14CCDF}"/>
              </a:ext>
            </a:extLst>
          </p:cNvPr>
          <p:cNvSpPr>
            <a:spLocks noGrp="1"/>
          </p:cNvSpPr>
          <p:nvPr/>
        </p:nvSpPr>
        <p:spPr>
          <a:xfrm>
            <a:off x="1714500" y="6248400"/>
            <a:ext cx="75057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21826"/>
                </a:solidFill>
              </a:defRPr>
            </a:pPr>
            <a:r>
              <a:rPr sz="2250" b="1">
                <a:solidFill>
                  <a:srgbClr val="121826"/>
                </a:solidFill>
              </a:rPr>
              <a:t>Parents need clean, credible PDFs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7D22DD-050B-4851-A950-0D47FB09F562}"/>
              </a:ext>
            </a:extLst>
          </p:cNvPr>
          <p:cNvSpPr>
            <a:spLocks noGrp="1"/>
          </p:cNvSpPr>
          <p:nvPr/>
        </p:nvSpPr>
        <p:spPr>
          <a:xfrm>
            <a:off x="1714500" y="6667500"/>
            <a:ext cx="75057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48566A"/>
                </a:solidFill>
              </a:defRPr>
            </a:pPr>
            <a:r>
              <a:rPr sz="1650">
                <a:solidFill>
                  <a:srgbClr val="48566A"/>
                </a:solidFill>
              </a:rPr>
              <a:t>Professional invoices are created with session detail, billing address, and payment instructions.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2A6427-E09D-4E94-A6C2-0D85E5E68D3E}"/>
              </a:ext>
            </a:extLst>
          </p:cNvPr>
          <p:cNvSpPr>
            <a:spLocks noGrp="1"/>
          </p:cNvSpPr>
          <p:nvPr/>
        </p:nvSpPr>
        <p:spPr>
          <a:xfrm>
            <a:off x="876300" y="7410450"/>
            <a:ext cx="6477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rPr sz="360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8D15EA-452D-43E0-B877-D83E53EF78C5}"/>
              </a:ext>
            </a:extLst>
          </p:cNvPr>
          <p:cNvSpPr>
            <a:spLocks noGrp="1"/>
          </p:cNvSpPr>
          <p:nvPr/>
        </p:nvSpPr>
        <p:spPr>
          <a:xfrm>
            <a:off x="1714500" y="7410450"/>
            <a:ext cx="75057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21826"/>
                </a:solidFill>
              </a:defRPr>
            </a:pPr>
            <a:r>
              <a:rPr sz="2250" b="1">
                <a:solidFill>
                  <a:srgbClr val="121826"/>
                </a:solidFill>
              </a:rPr>
              <a:t>Tax season needs a paper trail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81577D-131E-4F1E-BFCA-AC81B0FDD31F}"/>
              </a:ext>
            </a:extLst>
          </p:cNvPr>
          <p:cNvSpPr>
            <a:spLocks noGrp="1"/>
          </p:cNvSpPr>
          <p:nvPr/>
        </p:nvSpPr>
        <p:spPr>
          <a:xfrm>
            <a:off x="1714500" y="7829550"/>
            <a:ext cx="7505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48566A"/>
                </a:solidFill>
              </a:defRPr>
            </a:pPr>
            <a:r>
              <a:rPr sz="1650">
                <a:solidFill>
                  <a:srgbClr val="48566A"/>
                </a:solidFill>
              </a:rPr>
              <a:t>Payment status, annual summaries, and CSV export keep income visible.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561CB2D-F927-473E-8C48-CF57F113501F}"/>
              </a:ext>
            </a:extLst>
          </p:cNvPr>
          <p:cNvSpPr>
            <a:spLocks noGrp="1"/>
          </p:cNvSpPr>
          <p:nvPr/>
        </p:nvSpPr>
        <p:spPr>
          <a:xfrm>
            <a:off x="9865043" y="3859530"/>
            <a:ext cx="7546658" cy="5703570"/>
          </a:xfrm>
          <a:prstGeom prst="roundRect">
            <a:avLst>
              <a:gd name="adj" fmla="val 3674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pic>
        <p:nvPicPr>
          <p:cNvPr id="15" name="invoice-history-screenshot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31743" y="4519672"/>
            <a:ext cx="7013258" cy="4383286"/>
          </a:xfrm>
          <a:prstGeom prst="roundRect">
            <a:avLst>
              <a:gd name="adj" fmla="val 3316"/>
            </a:avLst>
          </a:prstGeom>
        </p:spPr>
      </p:pic>
    </p:spTree>
    <p:extLst>
      <p:ext uri="{BB962C8B-B14F-4D97-AF65-F5344CB8AC3E}">
        <p14:creationId xmlns:p14="http://schemas.microsoft.com/office/powerpoint/2010/main" val="1168198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ackground">
            <a:extLst>
              <a:ext uri="{FF2B5EF4-FFF2-40B4-BE49-F238E27FC236}">
                <a16:creationId xmlns:a16="http://schemas.microsoft.com/office/drawing/2014/main" id="{331215DB-4BDE-45CB-A005-A654710E52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EDE3C405-E3B4-40CF-B687-A055968E8C54}"/>
              </a:ext>
            </a:extLst>
          </p:cNvPr>
          <p:cNvSpPr>
            <a:spLocks noGrp="1"/>
          </p:cNvSpPr>
          <p:nvPr/>
        </p:nvSpPr>
        <p:spPr>
          <a:xfrm>
            <a:off x="895350" y="742950"/>
            <a:ext cx="12001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THE CORE STORY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20C1C16D-74F0-4F3D-B4DC-0F3E034D455A}"/>
              </a:ext>
            </a:extLst>
          </p:cNvPr>
          <p:cNvSpPr>
            <a:spLocks noGrp="1"/>
          </p:cNvSpPr>
          <p:nvPr/>
        </p:nvSpPr>
        <p:spPr>
          <a:xfrm>
            <a:off x="895350" y="1123950"/>
            <a:ext cx="11487150" cy="1524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950" b="1">
                <a:solidFill>
                  <a:srgbClr val="121826"/>
                </a:solidFill>
              </a:defRPr>
            </a:pPr>
            <a:r>
              <a:rPr sz="4950" b="1">
                <a:solidFill>
                  <a:srgbClr val="121826"/>
                </a:solidFill>
              </a:rPr>
              <a:t>From session calendar to sent invoice in one clean flow.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EE20A07-C48B-4875-A62A-9B72C6A1C178}"/>
              </a:ext>
            </a:extLst>
          </p:cNvPr>
          <p:cNvSpPr>
            <a:spLocks noGrp="1"/>
          </p:cNvSpPr>
          <p:nvPr/>
        </p:nvSpPr>
        <p:spPr>
          <a:xfrm>
            <a:off x="895350" y="4743450"/>
            <a:ext cx="3509963" cy="3143250"/>
          </a:xfrm>
          <a:prstGeom prst="roundRect">
            <a:avLst>
              <a:gd name="adj" fmla="val 5455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985938-769C-4021-891B-BBA43CB5C6AC}"/>
              </a:ext>
            </a:extLst>
          </p:cNvPr>
          <p:cNvSpPr>
            <a:spLocks noGrp="1"/>
          </p:cNvSpPr>
          <p:nvPr/>
        </p:nvSpPr>
        <p:spPr>
          <a:xfrm>
            <a:off x="1200150" y="5314950"/>
            <a:ext cx="2895600" cy="781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121826"/>
                </a:solidFill>
              </a:defRPr>
            </a:pPr>
            <a:r>
              <a:rPr sz="2550" b="1">
                <a:solidFill>
                  <a:srgbClr val="121826"/>
                </a:solidFill>
              </a:rPr>
              <a:t>Microsoft 365 calendar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6229E0-8D36-4CAC-9986-25A7B37EA0EA}"/>
              </a:ext>
            </a:extLst>
          </p:cNvPr>
          <p:cNvSpPr>
            <a:spLocks noGrp="1"/>
          </p:cNvSpPr>
          <p:nvPr/>
        </p:nvSpPr>
        <p:spPr>
          <a:xfrm>
            <a:off x="1200150" y="6267450"/>
            <a:ext cx="2895600" cy="1066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48566A"/>
                </a:solidFill>
              </a:defRPr>
            </a:pPr>
            <a:r>
              <a:rPr sz="1725">
                <a:solidFill>
                  <a:srgbClr val="48566A"/>
                </a:solidFill>
              </a:rPr>
              <a:t>Cadence reads selected Outlook calendars through Microsoft Graph. Outlook does not need to be open.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D14817-BE89-4BD6-B1BD-15270C94EE4D}"/>
              </a:ext>
            </a:extLst>
          </p:cNvPr>
          <p:cNvSpPr>
            <a:spLocks noGrp="1"/>
          </p:cNvSpPr>
          <p:nvPr/>
        </p:nvSpPr>
        <p:spPr>
          <a:xfrm>
            <a:off x="4610100" y="6057900"/>
            <a:ext cx="4000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F97316"/>
                </a:solidFill>
              </a:defRPr>
            </a:pPr>
            <a:r>
              <a:rPr sz="3150" b="1">
                <a:solidFill>
                  <a:srgbClr val="F97316"/>
                </a:solidFill>
              </a:rPr>
              <a:t>&gt;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6641258-B91F-4827-919E-0355F4D4FA44}"/>
              </a:ext>
            </a:extLst>
          </p:cNvPr>
          <p:cNvSpPr>
            <a:spLocks noGrp="1"/>
          </p:cNvSpPr>
          <p:nvPr/>
        </p:nvSpPr>
        <p:spPr>
          <a:xfrm>
            <a:off x="5224463" y="4743450"/>
            <a:ext cx="3509963" cy="3143250"/>
          </a:xfrm>
          <a:prstGeom prst="roundRect">
            <a:avLst>
              <a:gd name="adj" fmla="val 5455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CA26B9-BDE4-46A7-8677-EF811357AE93}"/>
              </a:ext>
            </a:extLst>
          </p:cNvPr>
          <p:cNvSpPr>
            <a:spLocks noGrp="1"/>
          </p:cNvSpPr>
          <p:nvPr/>
        </p:nvSpPr>
        <p:spPr>
          <a:xfrm>
            <a:off x="5524500" y="5505450"/>
            <a:ext cx="28956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121826"/>
                </a:solidFill>
              </a:defRPr>
            </a:pPr>
            <a:r>
              <a:rPr sz="2550" b="1">
                <a:solidFill>
                  <a:srgbClr val="121826"/>
                </a:solidFill>
              </a:rPr>
              <a:t>Student matching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F209A9-2DFC-4CCD-BE35-C282ACE44E5A}"/>
              </a:ext>
            </a:extLst>
          </p:cNvPr>
          <p:cNvSpPr>
            <a:spLocks noGrp="1"/>
          </p:cNvSpPr>
          <p:nvPr/>
        </p:nvSpPr>
        <p:spPr>
          <a:xfrm>
            <a:off x="5524500" y="6076950"/>
            <a:ext cx="2895600" cy="1066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48566A"/>
                </a:solidFill>
              </a:defRPr>
            </a:pPr>
            <a:r>
              <a:rPr sz="1725">
                <a:solidFill>
                  <a:srgbClr val="48566A"/>
                </a:solidFill>
              </a:rPr>
              <a:t>Appointment titles are matched against student initials so billable sessions can be found quickly.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CE8679-36AB-41B4-A2A8-7C406919B346}"/>
              </a:ext>
            </a:extLst>
          </p:cNvPr>
          <p:cNvSpPr>
            <a:spLocks noGrp="1"/>
          </p:cNvSpPr>
          <p:nvPr/>
        </p:nvSpPr>
        <p:spPr>
          <a:xfrm>
            <a:off x="8953500" y="6057900"/>
            <a:ext cx="4000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F97316"/>
                </a:solidFill>
              </a:defRPr>
            </a:pPr>
            <a:r>
              <a:rPr sz="3150" b="1">
                <a:solidFill>
                  <a:srgbClr val="F97316"/>
                </a:solidFill>
              </a:rPr>
              <a:t>&gt;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8254AA3-59C8-401E-90C5-CDA376716709}"/>
              </a:ext>
            </a:extLst>
          </p:cNvPr>
          <p:cNvSpPr>
            <a:spLocks noGrp="1"/>
          </p:cNvSpPr>
          <p:nvPr/>
        </p:nvSpPr>
        <p:spPr>
          <a:xfrm>
            <a:off x="9553575" y="4743450"/>
            <a:ext cx="3509963" cy="3143250"/>
          </a:xfrm>
          <a:prstGeom prst="roundRect">
            <a:avLst>
              <a:gd name="adj" fmla="val 5455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86C51B-655E-4721-B000-2AD3B550576F}"/>
              </a:ext>
            </a:extLst>
          </p:cNvPr>
          <p:cNvSpPr>
            <a:spLocks noGrp="1"/>
          </p:cNvSpPr>
          <p:nvPr/>
        </p:nvSpPr>
        <p:spPr>
          <a:xfrm>
            <a:off x="9867900" y="5505450"/>
            <a:ext cx="28956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121826"/>
                </a:solidFill>
              </a:defRPr>
            </a:pPr>
            <a:r>
              <a:rPr sz="2550" b="1">
                <a:solidFill>
                  <a:srgbClr val="121826"/>
                </a:solidFill>
              </a:rPr>
              <a:t>PDF invoice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75D9A8-93D9-458A-B2D9-540349ABC187}"/>
              </a:ext>
            </a:extLst>
          </p:cNvPr>
          <p:cNvSpPr>
            <a:spLocks noGrp="1"/>
          </p:cNvSpPr>
          <p:nvPr/>
        </p:nvSpPr>
        <p:spPr>
          <a:xfrm>
            <a:off x="9867900" y="6076950"/>
            <a:ext cx="2895600" cy="1066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48566A"/>
                </a:solidFill>
              </a:defRPr>
            </a:pPr>
            <a:r>
              <a:rPr sz="1725">
                <a:solidFill>
                  <a:srgbClr val="48566A"/>
                </a:solidFill>
              </a:rPr>
              <a:t>Every selected session becomes a line item at the configured rate, with the right bill-to details.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1FA40E-0F0D-4469-8F19-61E9139564CE}"/>
              </a:ext>
            </a:extLst>
          </p:cNvPr>
          <p:cNvSpPr>
            <a:spLocks noGrp="1"/>
          </p:cNvSpPr>
          <p:nvPr/>
        </p:nvSpPr>
        <p:spPr>
          <a:xfrm>
            <a:off x="13277850" y="6057900"/>
            <a:ext cx="4000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F97316"/>
                </a:solidFill>
              </a:defRPr>
            </a:pPr>
            <a:r>
              <a:rPr sz="3150" b="1">
                <a:solidFill>
                  <a:srgbClr val="F97316"/>
                </a:solidFill>
              </a:rPr>
              <a:t>&gt;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4F0B727-C1E3-46F1-A7D2-946DE5932F26}"/>
              </a:ext>
            </a:extLst>
          </p:cNvPr>
          <p:cNvSpPr>
            <a:spLocks noGrp="1"/>
          </p:cNvSpPr>
          <p:nvPr/>
        </p:nvSpPr>
        <p:spPr>
          <a:xfrm>
            <a:off x="13882688" y="4743450"/>
            <a:ext cx="3509963" cy="3143250"/>
          </a:xfrm>
          <a:prstGeom prst="roundRect">
            <a:avLst>
              <a:gd name="adj" fmla="val 5455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A8134B-4F52-49AF-9483-A3C601C99632}"/>
              </a:ext>
            </a:extLst>
          </p:cNvPr>
          <p:cNvSpPr>
            <a:spLocks noGrp="1"/>
          </p:cNvSpPr>
          <p:nvPr/>
        </p:nvSpPr>
        <p:spPr>
          <a:xfrm>
            <a:off x="14192250" y="5638800"/>
            <a:ext cx="28956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121826"/>
                </a:solidFill>
              </a:defRPr>
            </a:pPr>
            <a:r>
              <a:rPr sz="2550" b="1">
                <a:solidFill>
                  <a:srgbClr val="121826"/>
                </a:solidFill>
              </a:rPr>
              <a:t>Email + tracking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2C92E7-3D5C-4A07-B1D6-518F48E9B3DC}"/>
              </a:ext>
            </a:extLst>
          </p:cNvPr>
          <p:cNvSpPr>
            <a:spLocks noGrp="1"/>
          </p:cNvSpPr>
          <p:nvPr/>
        </p:nvSpPr>
        <p:spPr>
          <a:xfrm>
            <a:off x="14192250" y="6210300"/>
            <a:ext cx="289560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48566A"/>
                </a:solidFill>
              </a:defRPr>
            </a:pPr>
            <a:r>
              <a:rPr sz="1725">
                <a:solidFill>
                  <a:srgbClr val="48566A"/>
                </a:solidFill>
              </a:rPr>
              <a:t>Send through Microsoft 365, save to Sent Items, then track payment status and income.</a:t>
            </a:r>
          </a:p>
        </p:txBody>
      </p:sp>
    </p:spTree>
    <p:extLst>
      <p:ext uri="{BB962C8B-B14F-4D97-AF65-F5344CB8AC3E}">
        <p14:creationId xmlns:p14="http://schemas.microsoft.com/office/powerpoint/2010/main" val="1830799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ackground">
            <a:extLst>
              <a:ext uri="{FF2B5EF4-FFF2-40B4-BE49-F238E27FC236}">
                <a16:creationId xmlns:a16="http://schemas.microsoft.com/office/drawing/2014/main" id="{1BADCC3A-9FCC-40A0-AA35-585EEC9224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93AB4B40-D9A8-4143-AADD-B91B60054E40}"/>
              </a:ext>
            </a:extLst>
          </p:cNvPr>
          <p:cNvSpPr>
            <a:spLocks noGrp="1"/>
          </p:cNvSpPr>
          <p:nvPr/>
        </p:nvSpPr>
        <p:spPr>
          <a:xfrm>
            <a:off x="876300" y="1962150"/>
            <a:ext cx="12382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PRODUCT PROOF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67178C03-0951-4514-9ED9-101E093B57A9}"/>
              </a:ext>
            </a:extLst>
          </p:cNvPr>
          <p:cNvSpPr>
            <a:spLocks noGrp="1"/>
          </p:cNvSpPr>
          <p:nvPr/>
        </p:nvSpPr>
        <p:spPr>
          <a:xfrm>
            <a:off x="876300" y="2400300"/>
            <a:ext cx="6248400" cy="2266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950" b="1">
                <a:solidFill>
                  <a:srgbClr val="121826"/>
                </a:solidFill>
              </a:defRPr>
            </a:pPr>
            <a:r>
              <a:rPr sz="4950" b="1">
                <a:solidFill>
                  <a:srgbClr val="121826"/>
                </a:solidFill>
              </a:rPr>
              <a:t>The main action is exactly where a practitioner expects it.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id="{94113F81-2FBA-4B86-98F2-7C8BB78F16CD}"/>
              </a:ext>
            </a:extLst>
          </p:cNvPr>
          <p:cNvSpPr>
            <a:spLocks noGrp="1"/>
          </p:cNvSpPr>
          <p:nvPr/>
        </p:nvSpPr>
        <p:spPr>
          <a:xfrm>
            <a:off x="876300" y="4895850"/>
            <a:ext cx="6248400" cy="971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48566A"/>
                </a:solidFill>
              </a:defRPr>
            </a:pPr>
            <a:r>
              <a:rPr sz="2100">
                <a:solidFill>
                  <a:srgbClr val="48566A"/>
                </a:solidFill>
              </a:rPr>
              <a:t>Choose a client and month, pull sessions from Outlook, and generate the invoice without rebuilding the month by hand.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06C24A-8F6C-44E6-A905-F5516550963E}"/>
              </a:ext>
            </a:extLst>
          </p:cNvPr>
          <p:cNvSpPr>
            <a:spLocks noGrp="1"/>
          </p:cNvSpPr>
          <p:nvPr/>
        </p:nvSpPr>
        <p:spPr>
          <a:xfrm>
            <a:off x="876300" y="6076950"/>
            <a:ext cx="2286000" cy="47625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4C3CFE4-F13A-4234-9ABF-7513150A86AF}"/>
              </a:ext>
            </a:extLst>
          </p:cNvPr>
          <p:cNvSpPr>
            <a:spLocks noGrp="1"/>
          </p:cNvSpPr>
          <p:nvPr/>
        </p:nvSpPr>
        <p:spPr>
          <a:xfrm>
            <a:off x="876300" y="653415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3E522C-A300-432E-A57C-30733C83EECD}"/>
              </a:ext>
            </a:extLst>
          </p:cNvPr>
          <p:cNvSpPr>
            <a:spLocks noGrp="1"/>
          </p:cNvSpPr>
          <p:nvPr/>
        </p:nvSpPr>
        <p:spPr>
          <a:xfrm>
            <a:off x="1181100" y="6457950"/>
            <a:ext cx="28575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21826"/>
                </a:solidFill>
              </a:defRPr>
            </a:pPr>
            <a:r>
              <a:rPr sz="1875" b="1">
                <a:solidFill>
                  <a:srgbClr val="121826"/>
                </a:solidFill>
              </a:rPr>
              <a:t>Configured rate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8DD016-9087-4690-818A-6A3FA206716E}"/>
              </a:ext>
            </a:extLst>
          </p:cNvPr>
          <p:cNvSpPr>
            <a:spLocks noGrp="1"/>
          </p:cNvSpPr>
          <p:nvPr/>
        </p:nvSpPr>
        <p:spPr>
          <a:xfrm>
            <a:off x="4210050" y="6362700"/>
            <a:ext cx="29146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48566A"/>
                </a:solidFill>
              </a:defRPr>
            </a:pPr>
            <a:r>
              <a:rPr sz="1650">
                <a:solidFill>
                  <a:srgbClr val="48566A"/>
                </a:solidFill>
              </a:rPr>
              <a:t>Uses the practitioner’s standard or student-specific session rate.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B182B1B-8290-4607-9DB8-2ACE049EA57E}"/>
              </a:ext>
            </a:extLst>
          </p:cNvPr>
          <p:cNvSpPr>
            <a:spLocks noGrp="1"/>
          </p:cNvSpPr>
          <p:nvPr/>
        </p:nvSpPr>
        <p:spPr>
          <a:xfrm>
            <a:off x="876300" y="72771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C80B8A-4A33-4692-99A2-612D517B3D7C}"/>
              </a:ext>
            </a:extLst>
          </p:cNvPr>
          <p:cNvSpPr>
            <a:spLocks noGrp="1"/>
          </p:cNvSpPr>
          <p:nvPr/>
        </p:nvSpPr>
        <p:spPr>
          <a:xfrm>
            <a:off x="1181100" y="7181850"/>
            <a:ext cx="28575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21826"/>
                </a:solidFill>
              </a:defRPr>
            </a:pPr>
            <a:r>
              <a:rPr sz="1875" b="1">
                <a:solidFill>
                  <a:srgbClr val="121826"/>
                </a:solidFill>
              </a:rPr>
              <a:t>Month folders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E3C319-7D4E-4F98-A607-7DCEC28D2474}"/>
              </a:ext>
            </a:extLst>
          </p:cNvPr>
          <p:cNvSpPr>
            <a:spLocks noGrp="1"/>
          </p:cNvSpPr>
          <p:nvPr/>
        </p:nvSpPr>
        <p:spPr>
          <a:xfrm>
            <a:off x="4210050" y="7086600"/>
            <a:ext cx="29146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48566A"/>
                </a:solidFill>
              </a:defRPr>
            </a:pPr>
            <a:r>
              <a:rPr sz="1650">
                <a:solidFill>
                  <a:srgbClr val="48566A"/>
                </a:solidFill>
              </a:rPr>
              <a:t>Saves invoices into month-based PDF folders automatically.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2551B3F-990D-4049-9DFC-94584AC4E682}"/>
              </a:ext>
            </a:extLst>
          </p:cNvPr>
          <p:cNvSpPr>
            <a:spLocks noGrp="1"/>
          </p:cNvSpPr>
          <p:nvPr/>
        </p:nvSpPr>
        <p:spPr>
          <a:xfrm>
            <a:off x="876300" y="80010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D51BD8-581D-44A8-BE40-DB4FF2B628F4}"/>
              </a:ext>
            </a:extLst>
          </p:cNvPr>
          <p:cNvSpPr>
            <a:spLocks noGrp="1"/>
          </p:cNvSpPr>
          <p:nvPr/>
        </p:nvSpPr>
        <p:spPr>
          <a:xfrm>
            <a:off x="1181100" y="7905750"/>
            <a:ext cx="28575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21826"/>
                </a:solidFill>
              </a:defRPr>
            </a:pPr>
            <a:r>
              <a:rPr sz="1875" b="1">
                <a:solidFill>
                  <a:srgbClr val="121826"/>
                </a:solidFill>
              </a:rPr>
              <a:t>Duplicate guard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536935-3993-40B5-8B21-33BF014C4BE2}"/>
              </a:ext>
            </a:extLst>
          </p:cNvPr>
          <p:cNvSpPr>
            <a:spLocks noGrp="1"/>
          </p:cNvSpPr>
          <p:nvPr/>
        </p:nvSpPr>
        <p:spPr>
          <a:xfrm>
            <a:off x="4210050" y="7810500"/>
            <a:ext cx="29146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48566A"/>
                </a:solidFill>
              </a:defRPr>
            </a:pPr>
            <a:r>
              <a:rPr sz="1650">
                <a:solidFill>
                  <a:srgbClr val="48566A"/>
                </a:solidFill>
              </a:rPr>
              <a:t>Prevents accidental duplicate invoices unless overridden.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650364F-0CD4-4CB4-92A3-24B57D0CA35A}"/>
              </a:ext>
            </a:extLst>
          </p:cNvPr>
          <p:cNvSpPr>
            <a:spLocks noGrp="1"/>
          </p:cNvSpPr>
          <p:nvPr/>
        </p:nvSpPr>
        <p:spPr>
          <a:xfrm>
            <a:off x="7650480" y="1714500"/>
            <a:ext cx="9761220" cy="6858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pic>
        <p:nvPicPr>
          <p:cNvPr id="16" name="new-invoice-screenshot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21930" y="2200275"/>
            <a:ext cx="9418320" cy="5886450"/>
          </a:xfrm>
          <a:prstGeom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1038346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ackground">
            <a:extLst>
              <a:ext uri="{FF2B5EF4-FFF2-40B4-BE49-F238E27FC236}">
                <a16:creationId xmlns:a16="http://schemas.microsoft.com/office/drawing/2014/main" id="{3432769C-E8CE-4BF2-9C72-A72A64E939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D1143A16-5016-4160-BC61-C33D4E0AE724}"/>
              </a:ext>
            </a:extLst>
          </p:cNvPr>
          <p:cNvSpPr>
            <a:spLocks noGrp="1"/>
          </p:cNvSpPr>
          <p:nvPr/>
        </p:nvSpPr>
        <p:spPr>
          <a:xfrm>
            <a:off x="876300" y="723900"/>
            <a:ext cx="18097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PRACTICE MANAGEMENT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EF840897-1E33-46F2-AFC8-A515D6903D5A}"/>
              </a:ext>
            </a:extLst>
          </p:cNvPr>
          <p:cNvSpPr>
            <a:spLocks noGrp="1"/>
          </p:cNvSpPr>
          <p:nvPr/>
        </p:nvSpPr>
        <p:spPr>
          <a:xfrm>
            <a:off x="876300" y="1104900"/>
            <a:ext cx="12515850" cy="1524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950" b="1">
                <a:solidFill>
                  <a:srgbClr val="121826"/>
                </a:solidFill>
              </a:defRPr>
            </a:pPr>
            <a:r>
              <a:rPr sz="4950" b="1">
                <a:solidFill>
                  <a:srgbClr val="121826"/>
                </a:solidFill>
              </a:rPr>
              <a:t>Cadence keeps the business context close to the billing moment.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6ECF251-740A-4935-B315-1A3527C6BD5B}"/>
              </a:ext>
            </a:extLst>
          </p:cNvPr>
          <p:cNvSpPr>
            <a:spLocks noGrp="1"/>
          </p:cNvSpPr>
          <p:nvPr/>
        </p:nvSpPr>
        <p:spPr>
          <a:xfrm>
            <a:off x="876300" y="2952750"/>
            <a:ext cx="8822055" cy="6610350"/>
          </a:xfrm>
          <a:prstGeom prst="roundRect">
            <a:avLst>
              <a:gd name="adj" fmla="val 3458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clients-screenshot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3608189"/>
            <a:ext cx="8479155" cy="5299472"/>
          </a:xfrm>
          <a:prstGeom prst="roundRect">
            <a:avLst>
              <a:gd name="adj" fmla="val 2736"/>
            </a:avLst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503FD97-218C-48CA-A34C-280EE75D8479}"/>
              </a:ext>
            </a:extLst>
          </p:cNvPr>
          <p:cNvSpPr>
            <a:spLocks noGrp="1"/>
          </p:cNvSpPr>
          <p:nvPr/>
        </p:nvSpPr>
        <p:spPr>
          <a:xfrm>
            <a:off x="10191750" y="508635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ABA486-6AD1-4D24-A441-371590B495FB}"/>
              </a:ext>
            </a:extLst>
          </p:cNvPr>
          <p:cNvSpPr>
            <a:spLocks noGrp="1"/>
          </p:cNvSpPr>
          <p:nvPr/>
        </p:nvSpPr>
        <p:spPr>
          <a:xfrm>
            <a:off x="10496550" y="5010150"/>
            <a:ext cx="28575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21826"/>
                </a:solidFill>
              </a:defRPr>
            </a:pPr>
            <a:r>
              <a:rPr sz="1875" b="1">
                <a:solidFill>
                  <a:srgbClr val="121826"/>
                </a:solidFill>
              </a:rPr>
              <a:t>Client records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9ADAE8-9228-4F6C-BD15-9325D41D1D70}"/>
              </a:ext>
            </a:extLst>
          </p:cNvPr>
          <p:cNvSpPr>
            <a:spLocks noGrp="1"/>
          </p:cNvSpPr>
          <p:nvPr/>
        </p:nvSpPr>
        <p:spPr>
          <a:xfrm>
            <a:off x="13525500" y="4914900"/>
            <a:ext cx="38862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48566A"/>
                </a:solidFill>
              </a:defRPr>
            </a:pPr>
            <a:r>
              <a:rPr sz="1650">
                <a:solidFill>
                  <a:srgbClr val="48566A"/>
                </a:solidFill>
              </a:rPr>
              <a:t>Student, parent, services, grade, birthday, and billing fields in one place.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36F395E-FA7D-4276-8D03-0034364A4ADA}"/>
              </a:ext>
            </a:extLst>
          </p:cNvPr>
          <p:cNvSpPr>
            <a:spLocks noGrp="1"/>
          </p:cNvSpPr>
          <p:nvPr/>
        </p:nvSpPr>
        <p:spPr>
          <a:xfrm>
            <a:off x="10191750" y="58293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E78E17-AECB-48EB-825E-A7452A63E3A8}"/>
              </a:ext>
            </a:extLst>
          </p:cNvPr>
          <p:cNvSpPr>
            <a:spLocks noGrp="1"/>
          </p:cNvSpPr>
          <p:nvPr/>
        </p:nvSpPr>
        <p:spPr>
          <a:xfrm>
            <a:off x="10496550" y="5734050"/>
            <a:ext cx="28575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21826"/>
                </a:solidFill>
              </a:defRPr>
            </a:pPr>
            <a:r>
              <a:rPr sz="1875" b="1">
                <a:solidFill>
                  <a:srgbClr val="121826"/>
                </a:solidFill>
              </a:rPr>
              <a:t>Flexible bill-to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5FABAD-8607-4C6E-8EF1-9E700D2C35CD}"/>
              </a:ext>
            </a:extLst>
          </p:cNvPr>
          <p:cNvSpPr>
            <a:spLocks noGrp="1"/>
          </p:cNvSpPr>
          <p:nvPr/>
        </p:nvSpPr>
        <p:spPr>
          <a:xfrm>
            <a:off x="13525500" y="5638800"/>
            <a:ext cx="38862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48566A"/>
                </a:solidFill>
              </a:defRPr>
            </a:pPr>
            <a:r>
              <a:rPr sz="1650">
                <a:solidFill>
                  <a:srgbClr val="48566A"/>
                </a:solidFill>
              </a:rPr>
              <a:t>Parent 1, Parent 2, or custom payer details flow into the PDF.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8ED5C1D-84C5-4D23-9B28-1B9FF8EACF40}"/>
              </a:ext>
            </a:extLst>
          </p:cNvPr>
          <p:cNvSpPr>
            <a:spLocks noGrp="1"/>
          </p:cNvSpPr>
          <p:nvPr/>
        </p:nvSpPr>
        <p:spPr>
          <a:xfrm>
            <a:off x="10191750" y="65532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1C0EDC-6377-450E-B385-9FEC11A9A8FB}"/>
              </a:ext>
            </a:extLst>
          </p:cNvPr>
          <p:cNvSpPr>
            <a:spLocks noGrp="1"/>
          </p:cNvSpPr>
          <p:nvPr/>
        </p:nvSpPr>
        <p:spPr>
          <a:xfrm>
            <a:off x="10496550" y="6477000"/>
            <a:ext cx="28575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21826"/>
                </a:solidFill>
              </a:defRPr>
            </a:pPr>
            <a:r>
              <a:rPr sz="1875" b="1">
                <a:solidFill>
                  <a:srgbClr val="121826"/>
                </a:solidFill>
              </a:rPr>
              <a:t>Import-ready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7915E7-ACDC-4E9C-AE5B-65809D7E87E0}"/>
              </a:ext>
            </a:extLst>
          </p:cNvPr>
          <p:cNvSpPr>
            <a:spLocks noGrp="1"/>
          </p:cNvSpPr>
          <p:nvPr/>
        </p:nvSpPr>
        <p:spPr>
          <a:xfrm>
            <a:off x="13525500" y="6381750"/>
            <a:ext cx="38862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48566A"/>
                </a:solidFill>
              </a:defRPr>
            </a:pPr>
            <a:r>
              <a:rPr sz="1650">
                <a:solidFill>
                  <a:srgbClr val="48566A"/>
                </a:solidFill>
              </a:rPr>
              <a:t>Bulk student import from Excel helps a practice get live faster.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1577980-82DE-449A-B05B-73BD0B116924}"/>
              </a:ext>
            </a:extLst>
          </p:cNvPr>
          <p:cNvSpPr>
            <a:spLocks noGrp="1"/>
          </p:cNvSpPr>
          <p:nvPr/>
        </p:nvSpPr>
        <p:spPr>
          <a:xfrm>
            <a:off x="10191750" y="729615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D27C96-388F-43A4-BB71-722748D53A6E}"/>
              </a:ext>
            </a:extLst>
          </p:cNvPr>
          <p:cNvSpPr>
            <a:spLocks noGrp="1"/>
          </p:cNvSpPr>
          <p:nvPr/>
        </p:nvSpPr>
        <p:spPr>
          <a:xfrm>
            <a:off x="10496550" y="7200900"/>
            <a:ext cx="28575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21826"/>
                </a:solidFill>
              </a:defRPr>
            </a:pPr>
            <a:r>
              <a:rPr sz="1875" b="1">
                <a:solidFill>
                  <a:srgbClr val="121826"/>
                </a:solidFill>
              </a:rPr>
              <a:t>Archive-friendly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19A90A-281F-49BC-8EEB-7F61B96703DD}"/>
              </a:ext>
            </a:extLst>
          </p:cNvPr>
          <p:cNvSpPr>
            <a:spLocks noGrp="1"/>
          </p:cNvSpPr>
          <p:nvPr/>
        </p:nvSpPr>
        <p:spPr>
          <a:xfrm>
            <a:off x="13525500" y="7105650"/>
            <a:ext cx="38862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48566A"/>
                </a:solidFill>
              </a:defRPr>
            </a:pPr>
            <a:r>
              <a:rPr sz="1650">
                <a:solidFill>
                  <a:srgbClr val="48566A"/>
                </a:solidFill>
              </a:rPr>
              <a:t>Keep current families clean while preserving history.</a:t>
            </a:r>
          </a:p>
        </p:txBody>
      </p:sp>
    </p:spTree>
    <p:extLst>
      <p:ext uri="{BB962C8B-B14F-4D97-AF65-F5344CB8AC3E}">
        <p14:creationId xmlns:p14="http://schemas.microsoft.com/office/powerpoint/2010/main" val="182322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ackground">
            <a:extLst>
              <a:ext uri="{FF2B5EF4-FFF2-40B4-BE49-F238E27FC236}">
                <a16:creationId xmlns:a16="http://schemas.microsoft.com/office/drawing/2014/main" id="{8EE23817-90AF-490D-8552-6AD02344A0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5A9D2094-AA39-4789-B605-0A901910F99F}"/>
              </a:ext>
            </a:extLst>
          </p:cNvPr>
          <p:cNvSpPr>
            <a:spLocks noGrp="1"/>
          </p:cNvSpPr>
          <p:nvPr/>
        </p:nvSpPr>
        <p:spPr>
          <a:xfrm>
            <a:off x="876300" y="3352800"/>
            <a:ext cx="1181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TRUST POSITION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1CDF70A7-2C42-49A0-9A59-AD2E3C7D0043}"/>
              </a:ext>
            </a:extLst>
          </p:cNvPr>
          <p:cNvSpPr>
            <a:spLocks noGrp="1"/>
          </p:cNvSpPr>
          <p:nvPr/>
        </p:nvSpPr>
        <p:spPr>
          <a:xfrm>
            <a:off x="876300" y="3790950"/>
            <a:ext cx="6838950" cy="2266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950" b="1">
                <a:solidFill>
                  <a:srgbClr val="121826"/>
                </a:solidFill>
              </a:defRPr>
            </a:pPr>
            <a:r>
              <a:rPr sz="4950" b="1">
                <a:solidFill>
                  <a:srgbClr val="121826"/>
                </a:solidFill>
              </a:rPr>
              <a:t>No subscription. No hosted database. No extra billing portal.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id="{1D362B6A-E9C5-4162-8E05-96BFA4FC8D32}"/>
              </a:ext>
            </a:extLst>
          </p:cNvPr>
          <p:cNvSpPr>
            <a:spLocks noGrp="1"/>
          </p:cNvSpPr>
          <p:nvPr/>
        </p:nvSpPr>
        <p:spPr>
          <a:xfrm>
            <a:off x="876300" y="6286500"/>
            <a:ext cx="6838950" cy="647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48566A"/>
                </a:solidFill>
              </a:defRPr>
            </a:pPr>
            <a:r>
              <a:rPr sz="2100">
                <a:solidFill>
                  <a:srgbClr val="48566A"/>
                </a:solidFill>
              </a:rPr>
              <a:t>Cadence runs on the practitioner’s own Windows PC, connects to their Microsoft 365 account, and stores practice data locally.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A70C770-15E8-444D-9D3F-0601BFFC05BE}"/>
              </a:ext>
            </a:extLst>
          </p:cNvPr>
          <p:cNvSpPr>
            <a:spLocks noGrp="1"/>
          </p:cNvSpPr>
          <p:nvPr/>
        </p:nvSpPr>
        <p:spPr>
          <a:xfrm>
            <a:off x="8333994" y="2933700"/>
            <a:ext cx="4424553" cy="2095500"/>
          </a:xfrm>
          <a:prstGeom prst="roundRect">
            <a:avLst>
              <a:gd name="adj" fmla="val 8182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998393-EC84-4EF7-A7C2-8C7E57DB48A3}"/>
              </a:ext>
            </a:extLst>
          </p:cNvPr>
          <p:cNvSpPr>
            <a:spLocks noGrp="1"/>
          </p:cNvSpPr>
          <p:nvPr/>
        </p:nvSpPr>
        <p:spPr>
          <a:xfrm>
            <a:off x="8591550" y="3486150"/>
            <a:ext cx="38862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121826"/>
                </a:solidFill>
              </a:defRPr>
            </a:pPr>
            <a:r>
              <a:rPr sz="2400" b="1">
                <a:solidFill>
                  <a:srgbClr val="121826"/>
                </a:solidFill>
              </a:rPr>
              <a:t>Local-first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EA0989-FE3B-48A1-9EC6-B33EFBEA84D5}"/>
              </a:ext>
            </a:extLst>
          </p:cNvPr>
          <p:cNvSpPr>
            <a:spLocks noGrp="1"/>
          </p:cNvSpPr>
          <p:nvPr/>
        </p:nvSpPr>
        <p:spPr>
          <a:xfrm>
            <a:off x="8591550" y="3962400"/>
            <a:ext cx="38862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48566A"/>
                </a:solidFill>
              </a:defRPr>
            </a:pPr>
            <a:r>
              <a:rPr sz="1650">
                <a:solidFill>
                  <a:srgbClr val="48566A"/>
                </a:solidFill>
              </a:rPr>
              <a:t>Everything runs on the user’s PC; no Cadence cloud service is required.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21B1445-94BC-4852-922E-1A4824203E4C}"/>
              </a:ext>
            </a:extLst>
          </p:cNvPr>
          <p:cNvSpPr>
            <a:spLocks noGrp="1"/>
          </p:cNvSpPr>
          <p:nvPr/>
        </p:nvSpPr>
        <p:spPr>
          <a:xfrm>
            <a:off x="12987147" y="2933700"/>
            <a:ext cx="4424553" cy="2095500"/>
          </a:xfrm>
          <a:prstGeom prst="roundRect">
            <a:avLst>
              <a:gd name="adj" fmla="val 8182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4B6711-3065-482C-8B4B-A57B443ECA06}"/>
              </a:ext>
            </a:extLst>
          </p:cNvPr>
          <p:cNvSpPr>
            <a:spLocks noGrp="1"/>
          </p:cNvSpPr>
          <p:nvPr/>
        </p:nvSpPr>
        <p:spPr>
          <a:xfrm>
            <a:off x="13258800" y="3486150"/>
            <a:ext cx="38862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121826"/>
                </a:solidFill>
              </a:defRPr>
            </a:pPr>
            <a:r>
              <a:rPr sz="2400" b="1">
                <a:solidFill>
                  <a:srgbClr val="121826"/>
                </a:solidFill>
              </a:rPr>
              <a:t>Microsoft 365 native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D64E5C-1AD5-44FB-92C0-140F67A61CD0}"/>
              </a:ext>
            </a:extLst>
          </p:cNvPr>
          <p:cNvSpPr>
            <a:spLocks noGrp="1"/>
          </p:cNvSpPr>
          <p:nvPr/>
        </p:nvSpPr>
        <p:spPr>
          <a:xfrm>
            <a:off x="13258800" y="3962400"/>
            <a:ext cx="38862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48566A"/>
                </a:solidFill>
              </a:defRPr>
            </a:pPr>
            <a:r>
              <a:rPr sz="1650">
                <a:solidFill>
                  <a:srgbClr val="48566A"/>
                </a:solidFill>
              </a:rPr>
              <a:t>Uses Microsoft Graph for calendar reads and invoice email sending.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55FE30C-A8E4-4A14-A962-B663F2FCFF58}"/>
              </a:ext>
            </a:extLst>
          </p:cNvPr>
          <p:cNvSpPr>
            <a:spLocks noGrp="1"/>
          </p:cNvSpPr>
          <p:nvPr/>
        </p:nvSpPr>
        <p:spPr>
          <a:xfrm>
            <a:off x="8333994" y="5257800"/>
            <a:ext cx="4424553" cy="2095500"/>
          </a:xfrm>
          <a:prstGeom prst="roundRect">
            <a:avLst>
              <a:gd name="adj" fmla="val 8182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F1B38A-F943-4B0B-8011-D27FBDFE74A0}"/>
              </a:ext>
            </a:extLst>
          </p:cNvPr>
          <p:cNvSpPr>
            <a:spLocks noGrp="1"/>
          </p:cNvSpPr>
          <p:nvPr/>
        </p:nvSpPr>
        <p:spPr>
          <a:xfrm>
            <a:off x="8591550" y="5810250"/>
            <a:ext cx="38862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121826"/>
                </a:solidFill>
              </a:defRPr>
            </a:pPr>
            <a:r>
              <a:rPr sz="2400" b="1">
                <a:solidFill>
                  <a:srgbClr val="121826"/>
                </a:solidFill>
              </a:rPr>
              <a:t>Installable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46F340-8965-4365-ACBF-71F4E9E64F61}"/>
              </a:ext>
            </a:extLst>
          </p:cNvPr>
          <p:cNvSpPr>
            <a:spLocks noGrp="1"/>
          </p:cNvSpPr>
          <p:nvPr/>
        </p:nvSpPr>
        <p:spPr>
          <a:xfrm>
            <a:off x="8591550" y="6286500"/>
            <a:ext cx="38862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48566A"/>
                </a:solidFill>
              </a:defRPr>
            </a:pPr>
            <a:r>
              <a:rPr sz="1650">
                <a:solidFill>
                  <a:srgbClr val="48566A"/>
                </a:solidFill>
              </a:rPr>
              <a:t>A Windows installer can include everything needed; no Python setup for end users.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C3DC13B-401E-462E-AAE3-A41D5542FCEA}"/>
              </a:ext>
            </a:extLst>
          </p:cNvPr>
          <p:cNvSpPr>
            <a:spLocks noGrp="1"/>
          </p:cNvSpPr>
          <p:nvPr/>
        </p:nvSpPr>
        <p:spPr>
          <a:xfrm>
            <a:off x="12987147" y="5257800"/>
            <a:ext cx="4424553" cy="2095500"/>
          </a:xfrm>
          <a:prstGeom prst="roundRect">
            <a:avLst>
              <a:gd name="adj" fmla="val 8182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0CB360-E35D-41A7-85B7-2F973D05E295}"/>
              </a:ext>
            </a:extLst>
          </p:cNvPr>
          <p:cNvSpPr>
            <a:spLocks noGrp="1"/>
          </p:cNvSpPr>
          <p:nvPr/>
        </p:nvSpPr>
        <p:spPr>
          <a:xfrm>
            <a:off x="13258800" y="5810250"/>
            <a:ext cx="38862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121826"/>
                </a:solidFill>
              </a:defRPr>
            </a:pPr>
            <a:r>
              <a:rPr sz="2400" b="1">
                <a:solidFill>
                  <a:srgbClr val="121826"/>
                </a:solidFill>
              </a:rPr>
              <a:t>Backup + OneDrive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7D580D-917C-43DC-B705-D6CA9A676D34}"/>
              </a:ext>
            </a:extLst>
          </p:cNvPr>
          <p:cNvSpPr>
            <a:spLocks noGrp="1"/>
          </p:cNvSpPr>
          <p:nvPr/>
        </p:nvSpPr>
        <p:spPr>
          <a:xfrm>
            <a:off x="13258800" y="6286500"/>
            <a:ext cx="38862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48566A"/>
                </a:solidFill>
              </a:defRPr>
            </a:pPr>
            <a:r>
              <a:rPr sz="1650">
                <a:solidFill>
                  <a:srgbClr val="48566A"/>
                </a:solidFill>
              </a:rPr>
              <a:t>Built-in backup and configurable storage folders support practical two-PC workflows.</a:t>
            </a:r>
          </a:p>
        </p:txBody>
      </p:sp>
    </p:spTree>
    <p:extLst>
      <p:ext uri="{BB962C8B-B14F-4D97-AF65-F5344CB8AC3E}">
        <p14:creationId xmlns:p14="http://schemas.microsoft.com/office/powerpoint/2010/main" val="1955668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BD17BB1E-1585-40D9-9528-7085A72DBA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1325310-24EF-4B75-8C2C-0AD35D94280B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8971788" cy="6858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settings-screenshot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2446973"/>
            <a:ext cx="8628888" cy="5393055"/>
          </a:xfrm>
          <a:prstGeom prst="roundRect">
            <a:avLst>
              <a:gd name="adj" fmla="val 2632"/>
            </a:avLst>
          </a:prstGeom>
        </p:spPr>
      </p:pic>
      <p:sp>
        <p:nvSpPr>
          <p:cNvPr id="4" name="eyebrow">
            <a:extLst>
              <a:ext uri="{FF2B5EF4-FFF2-40B4-BE49-F238E27FC236}">
                <a16:creationId xmlns:a16="http://schemas.microsoft.com/office/drawing/2014/main" id="{E68B9281-0B0A-4321-BE3C-3C13EAB2DC26}"/>
              </a:ext>
            </a:extLst>
          </p:cNvPr>
          <p:cNvSpPr>
            <a:spLocks noGrp="1"/>
          </p:cNvSpPr>
          <p:nvPr/>
        </p:nvSpPr>
        <p:spPr>
          <a:xfrm>
            <a:off x="10363200" y="2781300"/>
            <a:ext cx="9525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SETUP STORY</a:t>
            </a:r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3E5AA8A8-1D69-45BA-92BC-832B5C717C38}"/>
              </a:ext>
            </a:extLst>
          </p:cNvPr>
          <p:cNvSpPr>
            <a:spLocks noGrp="1"/>
          </p:cNvSpPr>
          <p:nvPr/>
        </p:nvSpPr>
        <p:spPr>
          <a:xfrm>
            <a:off x="10363200" y="3448050"/>
            <a:ext cx="7048500" cy="2057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121826"/>
                </a:solidFill>
              </a:defRPr>
            </a:pPr>
            <a:r>
              <a:rPr sz="4500" b="1">
                <a:solidFill>
                  <a:srgbClr val="121826"/>
                </a:solidFill>
              </a:rPr>
              <a:t>Configuration is front-loaded so monthly billing stays simple.</a:t>
            </a:r>
          </a:p>
        </p:txBody>
      </p:sp>
      <p:sp>
        <p:nvSpPr>
          <p:cNvPr id="6" name="slide-subtitle">
            <a:extLst>
              <a:ext uri="{FF2B5EF4-FFF2-40B4-BE49-F238E27FC236}">
                <a16:creationId xmlns:a16="http://schemas.microsoft.com/office/drawing/2014/main" id="{628FDB52-CF7F-498C-9201-5EF58C712974}"/>
              </a:ext>
            </a:extLst>
          </p:cNvPr>
          <p:cNvSpPr>
            <a:spLocks noGrp="1"/>
          </p:cNvSpPr>
          <p:nvPr/>
        </p:nvSpPr>
        <p:spPr>
          <a:xfrm>
            <a:off x="10363200" y="5753100"/>
            <a:ext cx="7048500" cy="647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48566A"/>
                </a:solidFill>
              </a:defRPr>
            </a:pPr>
            <a:r>
              <a:rPr sz="2100">
                <a:solidFill>
                  <a:srgbClr val="48566A"/>
                </a:solidFill>
              </a:rPr>
              <a:t>Business identity, rate, Microsoft 365 connection, calendar selection, storage, backup, and import live in the settings flow.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8205B5-77FB-47F3-963E-E20D89592B7E}"/>
              </a:ext>
            </a:extLst>
          </p:cNvPr>
          <p:cNvSpPr>
            <a:spLocks noGrp="1"/>
          </p:cNvSpPr>
          <p:nvPr/>
        </p:nvSpPr>
        <p:spPr>
          <a:xfrm>
            <a:off x="10363200" y="6629400"/>
            <a:ext cx="2095500" cy="47625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45A2A7-4477-4D7F-9D9F-24FC2A74BC2C}"/>
              </a:ext>
            </a:extLst>
          </p:cNvPr>
          <p:cNvSpPr>
            <a:spLocks noGrp="1"/>
          </p:cNvSpPr>
          <p:nvPr/>
        </p:nvSpPr>
        <p:spPr>
          <a:xfrm>
            <a:off x="10363200" y="6934200"/>
            <a:ext cx="70485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21826"/>
                </a:solidFill>
              </a:defRPr>
            </a:pPr>
            <a:r>
              <a:rPr sz="1875" b="1">
                <a:solidFill>
                  <a:srgbClr val="121826"/>
                </a:solidFill>
              </a:rPr>
              <a:t>Marketing angle: Cadence feels purpose-built because every setting maps to a real solo-practice chore.</a:t>
            </a:r>
          </a:p>
        </p:txBody>
      </p:sp>
    </p:spTree>
    <p:extLst>
      <p:ext uri="{BB962C8B-B14F-4D97-AF65-F5344CB8AC3E}">
        <p14:creationId xmlns:p14="http://schemas.microsoft.com/office/powerpoint/2010/main" val="1612759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0E69CB71-A647-4786-B6F8-1A2FCE74B1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72A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D1DA54A0-DDEF-47FF-84FD-CDC6C4B2DBFA}"/>
              </a:ext>
            </a:extLst>
          </p:cNvPr>
          <p:cNvSpPr>
            <a:spLocks noGrp="1"/>
          </p:cNvSpPr>
          <p:nvPr/>
        </p:nvSpPr>
        <p:spPr>
          <a:xfrm>
            <a:off x="895350" y="3429000"/>
            <a:ext cx="13144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DBA74"/>
                </a:solidFill>
              </a:defRPr>
            </a:pPr>
            <a:r>
              <a:rPr sz="1350" b="1">
                <a:solidFill>
                  <a:srgbClr val="FDBA74"/>
                </a:solidFill>
              </a:rPr>
              <a:t>LAUNCH MESSAGE</a:t>
            </a:r>
          </a:p>
        </p:txBody>
      </p:sp>
      <p:sp>
        <p:nvSpPr>
          <p:cNvPr id="3" name="close-title">
            <a:extLst>
              <a:ext uri="{FF2B5EF4-FFF2-40B4-BE49-F238E27FC236}">
                <a16:creationId xmlns:a16="http://schemas.microsoft.com/office/drawing/2014/main" id="{7A275A74-8CF3-4785-9EBA-1328176B213C}"/>
              </a:ext>
            </a:extLst>
          </p:cNvPr>
          <p:cNvSpPr>
            <a:spLocks noGrp="1"/>
          </p:cNvSpPr>
          <p:nvPr/>
        </p:nvSpPr>
        <p:spPr>
          <a:xfrm>
            <a:off x="895350" y="3886200"/>
            <a:ext cx="8763000" cy="1695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550" b="1">
                <a:solidFill>
                  <a:srgbClr val="FFFFFF"/>
                </a:solidFill>
              </a:defRPr>
            </a:pPr>
            <a:r>
              <a:rPr sz="5550" b="1">
                <a:solidFill>
                  <a:srgbClr val="FFFFFF"/>
                </a:solidFill>
              </a:rPr>
              <a:t>Make monthly billing feel like closing the loop.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176839-1DA0-4369-BC02-D0F338870DC9}"/>
              </a:ext>
            </a:extLst>
          </p:cNvPr>
          <p:cNvSpPr>
            <a:spLocks noGrp="1"/>
          </p:cNvSpPr>
          <p:nvPr/>
        </p:nvSpPr>
        <p:spPr>
          <a:xfrm>
            <a:off x="895350" y="5829300"/>
            <a:ext cx="7962900" cy="1028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>
                <a:solidFill>
                  <a:srgbClr val="DCE8FF"/>
                </a:solidFill>
              </a:defRPr>
            </a:pPr>
            <a:r>
              <a:rPr sz="2250">
                <a:solidFill>
                  <a:srgbClr val="DCE8FF"/>
                </a:solidFill>
              </a:rPr>
              <a:t>Cadence gives solo practitioners a calmer way to move from sessions delivered to invoices sent, payments tracked, and income ready to report.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EA05F7E-4F74-408D-BF03-B7232589093B}"/>
              </a:ext>
            </a:extLst>
          </p:cNvPr>
          <p:cNvSpPr>
            <a:spLocks noGrp="1"/>
          </p:cNvSpPr>
          <p:nvPr/>
        </p:nvSpPr>
        <p:spPr>
          <a:xfrm>
            <a:off x="10217468" y="2476500"/>
            <a:ext cx="7175183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1A3CE4-2D5C-41B3-94CE-C5A7F7270970}"/>
              </a:ext>
            </a:extLst>
          </p:cNvPr>
          <p:cNvSpPr>
            <a:spLocks noGrp="1"/>
          </p:cNvSpPr>
          <p:nvPr/>
        </p:nvSpPr>
        <p:spPr>
          <a:xfrm>
            <a:off x="10553700" y="3467100"/>
            <a:ext cx="6496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Best-fit audience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048C56-BE14-4E8D-B38B-4815ABC09589}"/>
              </a:ext>
            </a:extLst>
          </p:cNvPr>
          <p:cNvSpPr>
            <a:spLocks noGrp="1"/>
          </p:cNvSpPr>
          <p:nvPr/>
        </p:nvSpPr>
        <p:spPr>
          <a:xfrm>
            <a:off x="10553700" y="3943350"/>
            <a:ext cx="6496050" cy="1752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>
                <a:solidFill>
                  <a:srgbClr val="121826"/>
                </a:solidFill>
              </a:defRPr>
            </a:pPr>
            <a:r>
              <a:rPr sz="2850" b="1">
                <a:solidFill>
                  <a:srgbClr val="121826"/>
                </a:solidFill>
              </a:rPr>
              <a:t>Educational therapists, tutors, academic coaches, and independent service providers who already schedule sessions in Outlook.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1DB80D-4C95-49E1-A620-3715AA848ABD}"/>
              </a:ext>
            </a:extLst>
          </p:cNvPr>
          <p:cNvSpPr>
            <a:spLocks noGrp="1"/>
          </p:cNvSpPr>
          <p:nvPr/>
        </p:nvSpPr>
        <p:spPr>
          <a:xfrm>
            <a:off x="10553700" y="5943600"/>
            <a:ext cx="6496050" cy="19050"/>
          </a:xfrm>
          <a:prstGeom prst="rect">
            <a:avLst/>
          </a:prstGeom>
          <a:solidFill>
            <a:srgbClr val="D8E1EE"/>
          </a:solidFill>
          <a:ln w="0">
            <a:solidFill>
              <a:srgbClr val="D8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BCA832-D4D3-427F-BA37-94F2C37B88CB}"/>
              </a:ext>
            </a:extLst>
          </p:cNvPr>
          <p:cNvSpPr>
            <a:spLocks noGrp="1"/>
          </p:cNvSpPr>
          <p:nvPr/>
        </p:nvSpPr>
        <p:spPr>
          <a:xfrm>
            <a:off x="10553700" y="6229350"/>
            <a:ext cx="649605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48566A"/>
                </a:solidFill>
              </a:defRPr>
            </a:pPr>
            <a:r>
              <a:rPr sz="1950">
                <a:solidFill>
                  <a:srgbClr val="48566A"/>
                </a:solidFill>
              </a:rPr>
              <a:t>Primary CTA: schedule a short demo using one real billing month.</a:t>
            </a:r>
          </a:p>
        </p:txBody>
      </p:sp>
    </p:spTree>
    <p:extLst>
      <p:ext uri="{BB962C8B-B14F-4D97-AF65-F5344CB8AC3E}">
        <p14:creationId xmlns:p14="http://schemas.microsoft.com/office/powerpoint/2010/main" val="157361038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576</Words>
  <Application>Microsoft Office PowerPoint</Application>
  <DocSecurity>0</DocSecurity>
  <PresentationFormat>Custom</PresentationFormat>
  <Paragraphs>71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Alex Jones</cp:lastModifiedBy>
  <cp:revision>1</cp:revision>
  <dcterms:created xsi:type="dcterms:W3CDTF">2026-04-27T13:37:14Z</dcterms:created>
  <dcterms:modified xsi:type="dcterms:W3CDTF">2026-04-27T13:40:29Z</dcterms:modified>
</cp:coreProperties>
</file>